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49828" autoAdjust="0"/>
  </p:normalViewPr>
  <p:slideViewPr>
    <p:cSldViewPr snapToGrid="0">
      <p:cViewPr varScale="1">
        <p:scale>
          <a:sx n="107" d="100"/>
          <a:sy n="107" d="100"/>
        </p:scale>
        <p:origin x="67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0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4E78"/>
                </a:solidFill>
              </a:defRPr>
            </a:pPr>
            <a:r>
              <a:rPr dirty="0" err="1"/>
              <a:t>MavenTech</a:t>
            </a:r>
            <a:r>
              <a:rPr dirty="0"/>
              <a:t> CRM Sales Operations Analytics</a:t>
            </a:r>
          </a:p>
          <a:p>
            <a:pPr>
              <a:spcBef>
                <a:spcPts val="1200"/>
              </a:spcBef>
              <a:defRPr sz="2000">
                <a:solidFill>
                  <a:srgbClr val="232D37"/>
                </a:solidFill>
              </a:defRPr>
            </a:pPr>
            <a:r>
              <a:rPr dirty="0"/>
              <a:t>Turning CRM Data into Sales Performance &amp; Decision Support</a:t>
            </a:r>
          </a:p>
          <a:p>
            <a:pPr>
              <a:spcBef>
                <a:spcPts val="1800"/>
              </a:spcBef>
              <a:defRPr sz="1400">
                <a:solidFill>
                  <a:srgbClr val="2691E1"/>
                </a:solidFill>
              </a:defRPr>
            </a:pPr>
            <a:r>
              <a:rPr dirty="0"/>
              <a:t>Business Analysis Presentation</a:t>
            </a:r>
          </a:p>
        </p:txBody>
      </p:sp>
      <p:pic>
        <p:nvPicPr>
          <p:cNvPr id="5" name="Picture 4" descr="maventech_dashboard_p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811" y="2300638"/>
            <a:ext cx="6329909" cy="36283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063240"/>
            <a:ext cx="3606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</a:defRPr>
            </a:pPr>
            <a:r>
              <a:rPr lang="en-US"/>
              <a:t>CRM Analytics · Sales Performance · Risk Identification · Decision Support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28"/>
    </mc:Choice>
    <mc:Fallback xmlns="">
      <p:transition spd="slow" advTm="528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How this analysis moves from business problem to management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t>1  Business Problem &amp; Management Questions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t>What leadership needs to understand, and the questions the dashboard must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t>2  Executive Sales Performance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t>Baseline KPIs across 8,800 opportunities, including 2,473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3  Revenue &amp; Product Performance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Where the $10.0M in won revenue is concentrated by product and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78892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4  Regional &amp; Team Performance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Highest and lowest performing teams, compared on multiple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5  Risks, Root Causes &amp; SWOT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What the data proves versus what management should investigate.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43484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6  Recommendations &amp; Expected Impact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Corrective actions and the Monitor-Diagnose-Investigate-Act framework.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915"/>
    </mc:Choice>
    <mc:Fallback xmlns="">
      <p:transition spd="slow" advTm="349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t>Business Problem &amp; Management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From CRM records to management-ready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40680" cy="452628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Business Problem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Raw CRM opportunity records do not provide leadership with a consolidated view of sales performance.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Management needs to connect pipeline outcomes, revenue, products, regions, teams, deal size, and sales-cycle efficiency.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A single KPI can hide important trade-offs</a:t>
            </a:r>
            <a:r>
              <a:rPr lang="en-US" dirty="0"/>
              <a:t>, </a:t>
            </a:r>
            <a:r>
              <a:rPr dirty="0"/>
              <a:t>for example, high conversion does not necessarily mean high revenue.</a:t>
            </a:r>
            <a:endParaRPr lang="en-US" dirty="0"/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394960" cy="4526280"/>
          </a:xfrm>
          <a:prstGeom prst="roundRect">
            <a:avLst/>
          </a:prstGeom>
          <a:solidFill>
            <a:srgbClr val="F5F8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Management Questions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Where is won revenue being generated</a:t>
            </a:r>
            <a:r>
              <a:rPr lang="en-US" dirty="0"/>
              <a:t>, </a:t>
            </a:r>
            <a:r>
              <a:rPr dirty="0"/>
              <a:t>and where is it concentrated?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Which products perform best by revenue versus conversion?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Which regions, managers, and agents lead performance?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Where are lost opportunities, longer sales cycles, or performance gaps creating risk?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What should management investigate and improve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373"/>
    </mc:Choice>
    <mc:Fallback xmlns="">
      <p:transition spd="slow" advTm="1003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t>Executive Sales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Current-state performance establishes the baseline for diagnosis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91E1"/>
                </a:solidFill>
              </a:defRPr>
            </a:pPr>
            <a:r>
              <a:t>Total Opportunities</a:t>
            </a:r>
          </a:p>
          <a:p>
            <a:pPr>
              <a:defRPr sz="2100" b="1">
                <a:solidFill>
                  <a:srgbClr val="144E78"/>
                </a:solidFill>
              </a:defRPr>
            </a:pPr>
            <a:r>
              <a:t>8,800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23444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91E1"/>
                </a:solidFill>
              </a:defRPr>
            </a:pPr>
            <a:r>
              <a:t>Won Opportunities</a:t>
            </a:r>
          </a:p>
          <a:p>
            <a:pPr>
              <a:defRPr sz="2100" b="1">
                <a:solidFill>
                  <a:srgbClr val="144E78"/>
                </a:solidFill>
              </a:defRPr>
            </a:pPr>
            <a:r>
              <a:t>4,238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91E1"/>
                </a:solidFill>
              </a:defRPr>
            </a:pPr>
            <a:r>
              <a:t>Win Rate</a:t>
            </a:r>
          </a:p>
          <a:p>
            <a:pPr>
              <a:defRPr sz="2100" b="1">
                <a:solidFill>
                  <a:srgbClr val="144E78"/>
                </a:solidFill>
              </a:defRPr>
            </a:pPr>
            <a:r>
              <a:t>63.2%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7744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91E1"/>
                </a:solidFill>
              </a:defRPr>
            </a:pPr>
            <a:r>
              <a:t>Won Revenue</a:t>
            </a:r>
          </a:p>
          <a:p>
            <a:pPr>
              <a:defRPr sz="2100" b="1">
                <a:solidFill>
                  <a:srgbClr val="144E78"/>
                </a:solidFill>
              </a:defRPr>
            </a:pPr>
            <a:r>
              <a:t>$10.0M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37744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91E1"/>
                </a:solidFill>
              </a:defRPr>
            </a:pPr>
            <a:r>
              <a:t>Lost Opportunities</a:t>
            </a:r>
          </a:p>
          <a:p>
            <a:pPr>
              <a:defRPr sz="2100" b="1">
                <a:solidFill>
                  <a:srgbClr val="144E78"/>
                </a:solidFill>
              </a:defRPr>
            </a:pPr>
            <a:r>
              <a:t>2,473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37744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91E1"/>
                </a:solidFill>
              </a:defRPr>
            </a:pPr>
            <a:r>
              <a:t>Avg. Sales Cycle</a:t>
            </a:r>
          </a:p>
          <a:p>
            <a:pPr>
              <a:defRPr sz="2100" b="1">
                <a:solidFill>
                  <a:srgbClr val="144E78"/>
                </a:solidFill>
              </a:defRPr>
            </a:pPr>
            <a:r>
              <a:t>48 days</a:t>
            </a:r>
          </a:p>
        </p:txBody>
      </p:sp>
      <p:pic>
        <p:nvPicPr>
          <p:cNvPr id="11" name="Picture 10" descr="maventech_dashboard_p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88720"/>
            <a:ext cx="4434840" cy="25420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94360" y="3703320"/>
            <a:ext cx="6172200" cy="210312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Analytical Interpretation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The business converted 4,238 of 6,711 closed opportunities into wins.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2,473 lost opportunities represent the clearest pool for conversion-loss analysis.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The 48-day average sales cycle provides an internal benchmark for identifying </a:t>
            </a:r>
            <a:r>
              <a:rPr lang="en-US" dirty="0"/>
              <a:t>longer-cycle</a:t>
            </a:r>
            <a:r>
              <a:rPr dirty="0"/>
              <a:t> opportunities</a:t>
            </a:r>
            <a:r>
              <a:rPr lang="en-US" dirty="0"/>
              <a:t>, potential process or performance gaps.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276"/>
    </mc:Choice>
    <mc:Fallback xmlns="">
      <p:transition spd="slow" advTm="6127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rPr dirty="0"/>
              <a:t>Revenue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rPr dirty="0"/>
              <a:t>Revenue contribution and conversion effectiveness tell different stories</a:t>
            </a:r>
          </a:p>
        </p:txBody>
      </p:sp>
      <p:pic>
        <p:nvPicPr>
          <p:cNvPr id="5" name="Picture 4" descr="maventech_dashboard_p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66928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234440"/>
            <a:ext cx="5212080" cy="196596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Evidence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GTX Pro leads Won Revenue at $3.51M with a 63.6% Win Rate.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MG Special posts a higher 64.8% Win Rate but only about $43.8K in Won Revenue.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46520" y="3429000"/>
            <a:ext cx="5212080" cy="214884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Diagnostic Interpretation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Conversion rate alone does not explain financial contribution.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Deal size, opportunity volume, product mix, and conversion should be analyzed together.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Revenue concentration in GTX Pro, GTX Plus Pro, and MG Advanced creates both strength and concentration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51"/>
    </mc:Choice>
    <mc:Fallback xmlns="">
      <p:transition spd="slow" advTm="7865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rPr dirty="0"/>
              <a:t>Regional &amp; Team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6809878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rPr dirty="0"/>
              <a:t>Performance differences identify where management should investigate, not where it should assume causality</a:t>
            </a:r>
          </a:p>
        </p:txBody>
      </p:sp>
      <p:pic>
        <p:nvPicPr>
          <p:cNvPr id="5" name="Picture 4" descr="maventech_dashboard_pag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1"/>
            <a:ext cx="5623560" cy="27660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234440"/>
            <a:ext cx="5257800" cy="2350008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Evidence — Highest vs. Lowest Team</a:t>
            </a:r>
          </a:p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</a:rPr>
              <a:t>West</a:t>
            </a:r>
            <a:r>
              <a:rPr lang="en-US" sz="1200" dirty="0">
                <a:solidFill>
                  <a:schemeClr val="tx1"/>
                </a:solidFill>
              </a:rPr>
              <a:t> leads regional Won Revenue at approximately </a:t>
            </a:r>
            <a:r>
              <a:rPr lang="en-US" sz="1200" b="1" dirty="0">
                <a:solidFill>
                  <a:schemeClr val="tx1"/>
                </a:solidFill>
              </a:rPr>
              <a:t>$3.6M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</a:rPr>
              <a:t>Melvin Marxen</a:t>
            </a:r>
            <a:r>
              <a:rPr lang="en-US" sz="1200" dirty="0">
                <a:solidFill>
                  <a:schemeClr val="tx1"/>
                </a:solidFill>
              </a:rPr>
              <a:t> leads managers at approximately </a:t>
            </a:r>
            <a:r>
              <a:rPr lang="en-US" sz="1200" b="1" dirty="0">
                <a:solidFill>
                  <a:schemeClr val="tx1"/>
                </a:solidFill>
              </a:rPr>
              <a:t>$2.25M</a:t>
            </a:r>
            <a:r>
              <a:rPr lang="en-US" sz="1200" dirty="0">
                <a:solidFill>
                  <a:schemeClr val="tx1"/>
                </a:solidFill>
              </a:rPr>
              <a:t>, with </a:t>
            </a:r>
            <a:r>
              <a:rPr lang="en-US" sz="1200" b="1" dirty="0">
                <a:solidFill>
                  <a:schemeClr val="tx1"/>
                </a:solidFill>
              </a:rPr>
              <a:t>Darcel Schlecht</a:t>
            </a:r>
            <a:r>
              <a:rPr lang="en-US" sz="1200" dirty="0">
                <a:solidFill>
                  <a:schemeClr val="tx1"/>
                </a:solidFill>
              </a:rPr>
              <a:t> leading all agents at approximately </a:t>
            </a:r>
            <a:r>
              <a:rPr lang="en-US" sz="1200" b="1" dirty="0">
                <a:solidFill>
                  <a:schemeClr val="tx1"/>
                </a:solidFill>
              </a:rPr>
              <a:t>$1.15M.</a:t>
            </a:r>
          </a:p>
          <a:p>
            <a:pPr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</a:rPr>
              <a:t>Dustin Brinkmann</a:t>
            </a:r>
            <a:r>
              <a:rPr lang="en-US" sz="1200" dirty="0">
                <a:solidFill>
                  <a:schemeClr val="tx1"/>
                </a:solidFill>
              </a:rPr>
              <a:t> ranks lowest among managers at approximately </a:t>
            </a:r>
            <a:r>
              <a:rPr lang="en-US" sz="1200" b="1" dirty="0">
                <a:solidFill>
                  <a:schemeClr val="tx1"/>
                </a:solidFill>
              </a:rPr>
              <a:t>$1.09M</a:t>
            </a:r>
            <a:r>
              <a:rPr lang="en-US" sz="1200" dirty="0">
                <a:solidFill>
                  <a:schemeClr val="tx1"/>
                </a:solidFill>
              </a:rPr>
              <a:t>; within his team, </a:t>
            </a:r>
            <a:r>
              <a:rPr lang="en-US" sz="1200" b="1" dirty="0">
                <a:solidFill>
                  <a:schemeClr val="tx1"/>
                </a:solidFill>
              </a:rPr>
              <a:t>Anna Snelling</a:t>
            </a:r>
            <a:r>
              <a:rPr lang="en-US" sz="1200" dirty="0">
                <a:solidFill>
                  <a:schemeClr val="tx1"/>
                </a:solidFill>
              </a:rPr>
              <a:t> generates approximately </a:t>
            </a:r>
            <a:r>
              <a:rPr lang="en-US" sz="1200" b="1" dirty="0">
                <a:solidFill>
                  <a:schemeClr val="tx1"/>
                </a:solidFill>
              </a:rPr>
              <a:t>$275K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200" dirty="0">
                <a:solidFill>
                  <a:schemeClr val="tx1"/>
                </a:solidFill>
              </a:rPr>
              <a:t>Darcel and Anna have relatively similar Win Rates </a:t>
            </a:r>
            <a:r>
              <a:rPr lang="en-US" sz="1400" dirty="0">
                <a:solidFill>
                  <a:schemeClr val="tx1"/>
                </a:solidFill>
              </a:rPr>
              <a:t>of approximately 63.1% and 61.9%, respectively, despite a substantial revenue difference.”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0" y="4078224"/>
            <a:ext cx="5257800" cy="224028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Wh</a:t>
            </a:r>
            <a:r>
              <a:rPr lang="en-US" dirty="0"/>
              <a:t>at Management Should Investigate</a:t>
            </a:r>
            <a:endParaRPr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232D37"/>
                </a:solidFill>
              </a:defRPr>
            </a:pPr>
            <a:r>
              <a:rPr lang="en-US" dirty="0"/>
              <a:t>Because conversion alone may not explain the revenue gap, investigate opportunity volume, average deal size, product mix, customer mix, territory, and sales-cycle performance.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232D37"/>
                </a:solidFill>
              </a:defRPr>
            </a:pPr>
            <a:r>
              <a:rPr lang="en-US" dirty="0"/>
              <a:t>Determine which factors and potentially which sales practices are contributing to the performance gap before recommending corrective action.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19D525-866B-8FBD-2A6D-B0E3D2BCF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24" y="3909060"/>
            <a:ext cx="4608151" cy="24152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824"/>
    </mc:Choice>
    <mc:Fallback xmlns="">
      <p:transition spd="slow" advTm="1428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t>Business Risks, Root-Cause Hypotheses &amp; Diagnostic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Separate what the dashboard proves from what management should investigate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788920" cy="502920"/>
          </a:xfrm>
          <a:prstGeom prst="rect">
            <a:avLst/>
          </a:prstGeom>
          <a:solidFill>
            <a:srgbClr val="14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Observed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188720"/>
            <a:ext cx="2240280" cy="502920"/>
          </a:xfrm>
          <a:prstGeom prst="rect">
            <a:avLst/>
          </a:prstGeom>
          <a:solidFill>
            <a:srgbClr val="14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1188720"/>
            <a:ext cx="6126480" cy="502920"/>
          </a:xfrm>
          <a:prstGeom prst="rect">
            <a:avLst/>
          </a:prstGeom>
          <a:solidFill>
            <a:srgbClr val="14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Root-Cause Hypotheses / Diagnostic Next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2788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2,473 lost opportunities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91640"/>
            <a:ext cx="22402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rPr dirty="0"/>
              <a:t>Conversion leakage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691640"/>
            <a:ext cx="6126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Analyze losses by product, region, agent, account, and deal stage; identify recurring patterns.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60320"/>
            <a:ext cx="2788920" cy="868680"/>
          </a:xfrm>
          <a:prstGeom prst="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Revenue concentrated in leading products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560320"/>
            <a:ext cx="2240280" cy="868680"/>
          </a:xfrm>
          <a:prstGeom prst="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Product concentration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2560320"/>
            <a:ext cx="6126480" cy="868680"/>
          </a:xfrm>
          <a:prstGeom prst="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Assess whether concentration is driven by demand, pricing, opportunity volume, or larger deal sizes.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29000"/>
            <a:ext cx="2788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rPr dirty="0"/>
              <a:t>West leads regional 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429000"/>
            <a:ext cx="22402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Regional performance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3429000"/>
            <a:ext cx="6126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rPr dirty="0"/>
              <a:t>Compare opportunity volume, product/customer mix, deal size, conversion, and agent composition across regions.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97680"/>
            <a:ext cx="2788920" cy="868680"/>
          </a:xfrm>
          <a:prstGeom prst="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Agent/manager results vary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297680"/>
            <a:ext cx="2240280" cy="868680"/>
          </a:xfrm>
          <a:prstGeom prst="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Execution inconsistency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4297680"/>
            <a:ext cx="6126480" cy="868680"/>
          </a:xfrm>
          <a:prstGeom prst="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rPr dirty="0"/>
              <a:t>Benchmark high performers across multiple metrics; test whether practices are transferable.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166360"/>
            <a:ext cx="2788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48-day average sales 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5166360"/>
            <a:ext cx="22402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t>Cycle-time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5166360"/>
            <a:ext cx="6126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>
                <a:solidFill>
                  <a:srgbClr val="232D37"/>
                </a:solidFill>
              </a:defRPr>
            </a:pPr>
            <a:r>
              <a:rPr dirty="0"/>
              <a:t>Identify long-cycle outliers and investigate qualification, follow-up, approval, or customer-decision delays.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71"/>
    </mc:Choice>
    <mc:Fallback xmlns="">
      <p:transition spd="slow" advTm="13007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t>SWOT Analysis — Sales Operations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Strategic framing of what the CRM evidence implies for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S  Strengths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63.2% win rate on 8,800 opportunities; $10.0M won revenue; consistent conversion across products and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W  Weaknesses</a:t>
            </a:r>
          </a:p>
          <a:p>
            <a:r>
              <a:rPr lang="en-US" sz="900" dirty="0">
                <a:solidFill>
                  <a:schemeClr val="tx1"/>
                </a:solidFill>
              </a:rPr>
              <a:t>There are 2,473 lost opportunities. They represent an area where management can investigate potential revenue leakage.</a:t>
            </a:r>
          </a:p>
          <a:p>
            <a:pPr>
              <a:buNone/>
            </a:pPr>
            <a:r>
              <a:rPr lang="en-US" sz="900" dirty="0">
                <a:solidFill>
                  <a:schemeClr val="tx1"/>
                </a:solidFill>
              </a:rPr>
              <a:t>The most interesting weakness is the </a:t>
            </a:r>
            <a:r>
              <a:rPr lang="en-US" sz="900" b="1" dirty="0">
                <a:solidFill>
                  <a:schemeClr val="tx1"/>
                </a:solidFill>
              </a:rPr>
              <a:t>product value imbalance</a:t>
            </a:r>
            <a:r>
              <a:rPr lang="en-US" sz="900" dirty="0">
                <a:solidFill>
                  <a:schemeClr val="tx1"/>
                </a:solidFill>
              </a:rPr>
              <a:t>:</a:t>
            </a:r>
          </a:p>
          <a:p>
            <a:pPr>
              <a:buNone/>
            </a:pPr>
            <a:r>
              <a:rPr lang="en-US" sz="900" b="1" dirty="0">
                <a:solidFill>
                  <a:schemeClr val="tx1"/>
                </a:solidFill>
              </a:rPr>
              <a:t>GTX Basic:</a:t>
            </a:r>
            <a:r>
              <a:rPr lang="en-US" sz="900" dirty="0">
                <a:solidFill>
                  <a:schemeClr val="tx1"/>
                </a:solidFill>
              </a:rPr>
              <a:t> 915 wins × $546 average deal size → $499K revenue Vs. </a:t>
            </a:r>
            <a:r>
              <a:rPr lang="en-US" sz="900" b="1" dirty="0">
                <a:solidFill>
                  <a:schemeClr val="tx1"/>
                </a:solidFill>
              </a:rPr>
              <a:t>GTX Plus Pro:</a:t>
            </a:r>
            <a:r>
              <a:rPr lang="en-US" sz="900" dirty="0">
                <a:solidFill>
                  <a:schemeClr val="tx1"/>
                </a:solidFill>
              </a:rPr>
              <a:t> 479 wins × $5,490 average deal size → $2.63M revenue.</a:t>
            </a:r>
          </a:p>
          <a:p>
            <a:pPr>
              <a:buNone/>
            </a:pPr>
            <a:r>
              <a:rPr lang="en-US" sz="900" dirty="0">
                <a:solidFill>
                  <a:schemeClr val="tx1"/>
                </a:solidFill>
              </a:rPr>
              <a:t>It suggests management should investigate product positioning, customer mix, pricing, and potential upselling or cross-selling opportunities.</a:t>
            </a: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O  Opportunities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lang="en-US" dirty="0"/>
              <a:t>Explore opportunities to increase average deal value for high-conversion, low-revenue products, while evaluating cost and margin implications before making investment or resource-allocation decisions.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63640" y="278892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T  Threats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lang="en-US" dirty="0"/>
              <a:t>Revenue concentration among GTX Pro, GTX Plus Pro, and MG Advanced, which account for roughly 83% of Won Revenue, combined with dependence on a limited number of top-performing agents and managers, may increase performance risk if those revenue sources decline.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Strategic Implication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lang="en-US"/>
              <a:t>Performance </a:t>
            </a:r>
            <a:r>
              <a:rPr lang="en-US" dirty="0"/>
              <a:t>is stable but concentrated. Future growth opportunities include widening the revenue base, increasing value from successful deals, and reducing avoidable opportunity losses.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63640" y="443484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Management Focus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Convert SWOT into the corrective actions and monitoring cadence on the following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166"/>
    </mc:Choice>
    <mc:Fallback xmlns="">
      <p:transition spd="slow" advTm="20016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t>Recommendations &amp; Corrective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t>Translate findings into focused management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1  Product Strategy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Use a revenue × conversion × deal-size view to protect high-value products, improve weaker conversion, and investigate low-revenue/high-conversion products for pricing or deal-size opportunity.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2  Pipeline Improvement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Segment lost opportunities</a:t>
            </a:r>
            <a:r>
              <a:rPr lang="en-US" dirty="0"/>
              <a:t> to understand where losses are occurring,</a:t>
            </a:r>
            <a:r>
              <a:rPr dirty="0"/>
              <a:t> identify repeatable loss patterns; prioritize corrective action on higher-value opportunity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3  Sales Coaching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lang="en-US" dirty="0"/>
              <a:t>Benchmark top performers across multiple KPIs, identify transferable best practices, and use targeted coaching to address performance gaps.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63640" y="278892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4  Regional Best-Practice Analysis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Diagnose why West leads before replicating practices; distinguish territory/customer/product advantages from execution advantages.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539496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5  Sales-Cycle Improvement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Use 48 days as a baseline; investigate long-cycle outliers and remove avoidable qualification, approval, or follow-up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434840"/>
            <a:ext cx="5394960" cy="1371600"/>
          </a:xfrm>
          <a:prstGeom prst="roundRect">
            <a:avLst/>
          </a:prstGeom>
          <a:solidFill>
            <a:srgbClr val="F7FAFC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rPr dirty="0"/>
              <a:t>6  Risk Monitoring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rPr dirty="0"/>
              <a:t>Track Win Rate, open pipeline, cycle time, revenue concentration, regional gaps, and agent performance for early signs of deterioration.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418"/>
    </mc:Choice>
    <mc:Fallback xmlns="">
      <p:transition spd="slow" advTm="12041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4E78"/>
                </a:solidFill>
              </a:defRPr>
            </a:pPr>
            <a:r>
              <a:t>Expected Business Impact &amp; Decision-Support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</a:defRPr>
            </a:pPr>
            <a:r>
              <a:rPr dirty="0"/>
              <a:t>Move from reporting historical results to continuous performance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9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4E78"/>
                </a:solidFill>
              </a:defRPr>
            </a:pPr>
            <a:r>
              <a:t>MONITOR</a:t>
            </a:r>
          </a:p>
          <a:p>
            <a:pPr algn="ctr">
              <a:spcBef>
                <a:spcPts val="1000"/>
              </a:spcBef>
              <a:defRPr sz="1150" b="1">
                <a:solidFill>
                  <a:srgbClr val="232D37"/>
                </a:solidFill>
              </a:defRPr>
            </a:pPr>
            <a:r>
              <a:t>What is happening?</a:t>
            </a:r>
          </a:p>
          <a:p>
            <a:pPr algn="ctr">
              <a:spcBef>
                <a:spcPts val="600"/>
              </a:spcBef>
              <a:defRPr sz="1050">
                <a:solidFill>
                  <a:srgbClr val="69737D"/>
                </a:solidFill>
              </a:defRPr>
            </a:pPr>
            <a:r>
              <a:t>KPIs, trends, pipeline outcomes</a:t>
            </a:r>
          </a:p>
        </p:txBody>
      </p:sp>
      <p:sp>
        <p:nvSpPr>
          <p:cNvPr id="6" name="Chevron 5"/>
          <p:cNvSpPr/>
          <p:nvPr/>
        </p:nvSpPr>
        <p:spPr>
          <a:xfrm>
            <a:off x="3044952" y="1965960"/>
            <a:ext cx="310896" cy="502920"/>
          </a:xfrm>
          <a:prstGeom prst="chevron">
            <a:avLst/>
          </a:prstGeom>
          <a:solidFill>
            <a:srgbClr val="269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9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4E78"/>
                </a:solidFill>
              </a:defRPr>
            </a:pPr>
            <a:r>
              <a:t>DIAGNOSE</a:t>
            </a:r>
          </a:p>
          <a:p>
            <a:pPr algn="ctr">
              <a:spcBef>
                <a:spcPts val="1000"/>
              </a:spcBef>
              <a:defRPr sz="1150" b="1">
                <a:solidFill>
                  <a:srgbClr val="232D37"/>
                </a:solidFill>
              </a:defRPr>
            </a:pPr>
            <a:r>
              <a:t>Where is performance different?</a:t>
            </a:r>
          </a:p>
          <a:p>
            <a:pPr algn="ctr">
              <a:spcBef>
                <a:spcPts val="600"/>
              </a:spcBef>
              <a:defRPr sz="1050">
                <a:solidFill>
                  <a:srgbClr val="69737D"/>
                </a:solidFill>
              </a:defRPr>
            </a:pPr>
            <a:r>
              <a:t>Product, region, manager, agent</a:t>
            </a:r>
          </a:p>
        </p:txBody>
      </p:sp>
      <p:sp>
        <p:nvSpPr>
          <p:cNvPr id="8" name="Chevron 7"/>
          <p:cNvSpPr/>
          <p:nvPr/>
        </p:nvSpPr>
        <p:spPr>
          <a:xfrm>
            <a:off x="5925312" y="1965960"/>
            <a:ext cx="310896" cy="502920"/>
          </a:xfrm>
          <a:prstGeom prst="chevron">
            <a:avLst/>
          </a:prstGeom>
          <a:solidFill>
            <a:srgbClr val="269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9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4E78"/>
                </a:solidFill>
              </a:defRPr>
            </a:pPr>
            <a:r>
              <a:t>INVESTIGATE</a:t>
            </a:r>
          </a:p>
          <a:p>
            <a:pPr algn="ctr">
              <a:spcBef>
                <a:spcPts val="1000"/>
              </a:spcBef>
              <a:defRPr sz="1150" b="1">
                <a:solidFill>
                  <a:srgbClr val="232D37"/>
                </a:solidFill>
              </a:defRPr>
            </a:pPr>
            <a:r>
              <a:t>What may be driving it?</a:t>
            </a:r>
          </a:p>
          <a:p>
            <a:pPr algn="ctr">
              <a:spcBef>
                <a:spcPts val="600"/>
              </a:spcBef>
              <a:defRPr sz="1050">
                <a:solidFill>
                  <a:srgbClr val="69737D"/>
                </a:solidFill>
              </a:defRPr>
            </a:pPr>
            <a:r>
              <a:t>Conversion, deal size, mix, cycle time</a:t>
            </a:r>
          </a:p>
        </p:txBody>
      </p:sp>
      <p:sp>
        <p:nvSpPr>
          <p:cNvPr id="10" name="Chevron 9"/>
          <p:cNvSpPr/>
          <p:nvPr/>
        </p:nvSpPr>
        <p:spPr>
          <a:xfrm>
            <a:off x="8805672" y="1965960"/>
            <a:ext cx="310896" cy="502920"/>
          </a:xfrm>
          <a:prstGeom prst="chevron">
            <a:avLst/>
          </a:prstGeom>
          <a:solidFill>
            <a:srgbClr val="269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0" y="14173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9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4E78"/>
                </a:solidFill>
              </a:defRPr>
            </a:pPr>
            <a:r>
              <a:t>ACT</a:t>
            </a:r>
          </a:p>
          <a:p>
            <a:pPr algn="ctr">
              <a:spcBef>
                <a:spcPts val="1000"/>
              </a:spcBef>
              <a:defRPr sz="1150" b="1">
                <a:solidFill>
                  <a:srgbClr val="232D37"/>
                </a:solidFill>
              </a:defRPr>
            </a:pPr>
            <a:r>
              <a:t>What should management do?</a:t>
            </a:r>
          </a:p>
          <a:p>
            <a:pPr algn="ctr">
              <a:spcBef>
                <a:spcPts val="600"/>
              </a:spcBef>
              <a:defRPr sz="1050">
                <a:solidFill>
                  <a:srgbClr val="69737D"/>
                </a:solidFill>
              </a:defRPr>
            </a:pPr>
            <a:r>
              <a:t>Corrective actions, coaching, process improvement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86200"/>
            <a:ext cx="10652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44E78"/>
                </a:solidFill>
              </a:defRPr>
            </a:pPr>
            <a:r>
              <a:t>Expected Business Impact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t>More balanced performance decisions by combining revenue, conversion, deal size, opportunity volume, and cycle efficiency.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t>Earlier identification of pipeline, product, regional, and execution risks.</a:t>
            </a:r>
          </a:p>
          <a:p>
            <a:pPr>
              <a:spcBef>
                <a:spcPts val="500"/>
              </a:spcBef>
              <a:defRPr sz="1250">
                <a:solidFill>
                  <a:srgbClr val="232D37"/>
                </a:solidFill>
              </a:defRPr>
            </a:pPr>
            <a:r>
              <a:t>More targeted coaching and process improvement based on diagnostic evidence rather than single-metric rankings.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373" y="5859006"/>
            <a:ext cx="116887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4E78"/>
                </a:solidFill>
              </a:defRPr>
            </a:pPr>
            <a:r>
              <a:rPr dirty="0"/>
              <a:t>Closing message: The dashboard is not only a reporting tool</a:t>
            </a:r>
            <a:r>
              <a:rPr lang="en-US" dirty="0"/>
              <a:t> - </a:t>
            </a:r>
            <a:r>
              <a:rPr dirty="0"/>
              <a:t>it is a framework for monitoring performance, diagnosing gaps, and guiding continuous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866"/>
    </mc:Choice>
    <mc:Fallback xmlns="">
      <p:transition spd="slow" advTm="12886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5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174F78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23160"/>
            <a:ext cx="853135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F31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Thank you for taking the time to review my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F31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MavenTech CRM Sales Operations Analytics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40480"/>
            <a:ext cx="8165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4C708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Sales Operations Analytics  ·  CRM Analytics  · 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4617720"/>
            <a:ext cx="4325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74F7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Tina 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379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5A69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23"/>
    </mc:Choice>
    <mc:Fallback xmlns="">
      <p:transition spd="slow" advTm="2512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</TotalTime>
  <Words>1334</Words>
  <Application>Microsoft Office PowerPoint</Application>
  <PresentationFormat>Widescreen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Jimmy Ly</dc:creator>
  <cp:lastModifiedBy>Jimmy Ly</cp:lastModifiedBy>
  <cp:revision>57</cp:revision>
  <dcterms:created xsi:type="dcterms:W3CDTF">2026-09-01T19:26:31Z</dcterms:created>
  <dcterms:modified xsi:type="dcterms:W3CDTF">2026-09-25T21:48:43Z</dcterms:modified>
</cp:coreProperties>
</file>